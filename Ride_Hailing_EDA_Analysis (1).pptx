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645920" cy="91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Ride-Hailing Fleet &amp; Booking Analytics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Exploratory Data Analysis (EDA): Categorical Drivers, Continuous Dynamics &amp; The 'Volume Trap'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DATASET SCOPE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~130,000+ Ride Requests across 7 Vehicle Tiers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11480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CORE FOCUS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Booking Status, Fleet Mix, VTAT/CTAT &amp; Cancellation Dissection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11480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ANALYTICAL TAKEAWAY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De-biasing Absolute Volumes via Normalized Proportions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Executive Summary: High-Level Signals &amp; The Volume Trap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62.1%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Ride Completion Rate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Majority of bookings conclude successfully across all vehicle classes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17.9%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Driver Cancellation Rate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Primary operational leakage: Drivers cancel ~2.5x more than riders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37,419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Top Fleet Volume (Auto)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Auto accounts for 29% of total ride volume; high urban utility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371600"/>
            <a:ext cx="25603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2600" b="1">
                <a:solidFill>
                  <a:srgbClr val="0D9488"/>
                </a:solidFill>
              </a:defRPr>
            </a:pPr>
            <a:r>
              <a:t>UPI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Dominant Payment Mode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Frictionless digital payment captures majority of checkout volume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5257800" cy="3017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⚠️ The Raw Observation Trap (Absolute Counts)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At first glance, Auto has the highest cancellations by driver (6,643), highest customer cancellations (2,680), and highest incomplete rides.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Uber XL appears to be the 'best performing' vehicle tier because it has the fewest cancellations (327 by customer, 762 by driver).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Flawed Conclusion: Misdiagnosing Auto as inherently broken or high-risk, and assuming Uber XL has superior driver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337560"/>
            <a:ext cx="5257800" cy="3017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💡 The Normalized Analytical Reality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Volume Artifact: Auto has the highest counts in every single category purely because it represents 29% of total bookings (~37.4k rides).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Uniform Completion Rate: Exactly 61.4% to 62.4% of rides complete across ALL vehicle types—whether Auto, Bike, Sedan, or Uber XL.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Uniform Driver Cancellation: Driver cancellation is pegged at 17.0% to 18.5% across every tier. The issue is structural/systemic, not vehicle-specific.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METHODOLOGY &amp;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Data Preprocessing: Handling High Cardinality &amp; Identifiers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1. Dropping Unique Identifiers</a:t>
            </a:r>
          </a:p>
          <a:p>
            <a:pPr>
              <a:spcBef>
                <a:spcPts val="200"/>
              </a:spcBef>
              <a:defRPr sz="1050" b="1">
                <a:solidFill>
                  <a:srgbClr val="2563EB"/>
                </a:solidFill>
              </a:defRPr>
            </a:pPr>
            <a:r>
              <a:t>Booking ID &amp; Customer ID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Cardinally Exhaustive: Each Booking ID is 100% unique (N unique values for N rows).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Zero Generalization: Treating unique IDs as categorical variables produces an unreadable count plot of single-instance spikes.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Overfitting Hazard: In predictive modeling, high-cardinality keys lead to severe leakage and memory bloat without predictive utility.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Action Taken: Permanently removed from categorical analysis to focus on structural fleet attributes.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4290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290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2. Handling Temporal Attributes</a:t>
            </a:r>
          </a:p>
          <a:p>
            <a:pPr>
              <a:spcBef>
                <a:spcPts val="200"/>
              </a:spcBef>
              <a:defRPr sz="1050" b="1">
                <a:solidFill>
                  <a:srgbClr val="0D9488"/>
                </a:solidFill>
              </a:defRPr>
            </a:pPr>
            <a:r>
              <a:t>Timestamp &amp; Time Columns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Granular Dispersion: Raw timestamps (e.g., 'YYYY-MM-DD HH:MM:SS') have near-infinite unique records.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Meaningless as Pure Categories: A count plot of raw time yields flat noise across the observation window.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Feature Engineering Opportunity: Instead of raw plotting, time must be decomposed into cyclical features: Hour of Day, Peak/Off-Peak flags, and Weekend vs Weekday.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Action Taken: Excluded from primary count plots pending temporal bucket extraction.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3429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417320"/>
            <a:ext cx="34290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3. Geospatial Cardinality</a:t>
            </a:r>
          </a:p>
          <a:p>
            <a:pPr>
              <a:spcBef>
                <a:spcPts val="200"/>
              </a:spcBef>
              <a:defRPr sz="1050" b="1">
                <a:solidFill>
                  <a:srgbClr val="F59E0B"/>
                </a:solidFill>
              </a:defRPr>
            </a:pPr>
            <a:r>
              <a:t>Pick-up &amp; Drop Locations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Extreme Spatial Variance: Thousands of distinct neighborhood names, street corners, and GPS coordinates.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Illegible Visualization: Direct count plots on raw location strings produce an uninterpretable long tail of tiny bars.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Clustering Prerequisite: Geospatial variables require spatial indexing (e.g., Uber H3 Hexagons, Geohash-6, or Top 10 High-Density Hubs).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• Action Taken: Skipped for standard count plotting; designated for origin-destination (O-D) matrix clustering.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417320"/>
            <a:ext cx="34290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UNIVARIATE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Categorical Analysis: Booking Status, Fleet Mix &amp; Payment Modes</a:t>
            </a:r>
          </a:p>
        </p:txBody>
      </p:sp>
      <p:pic>
        <p:nvPicPr>
          <p:cNvPr id="5" name="Picture 4" descr="booking_status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3474720" cy="2779776"/>
          </a:xfrm>
          <a:prstGeom prst="rect">
            <a:avLst/>
          </a:prstGeom>
        </p:spPr>
      </p:pic>
      <p:pic>
        <p:nvPicPr>
          <p:cNvPr id="6" name="Picture 5" descr="vehicle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840480" cy="26534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371600"/>
            <a:ext cx="31546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Categorical Takeaways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</a:defRPr>
            </a:pPr>
            <a:r>
              <a:t>Booking Status Health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62.2% of all ride requests are successfully completed. However, 37.8% experience operational friction (17.9% driver cancels, 7.0% customer cancels, 7.0% unfulfilled searches).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</a:defRPr>
            </a:pPr>
            <a:r>
              <a:t>Fleet Tier Hierarchy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Auto leads platform volume (37.4k), followed closely by Go Mini (29.8k) and Go Sedan (27.1k). Two-wheelers (Bike + eBike = 33k) form a strong micro-mobility segment.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</a:defRPr>
            </a:pPr>
            <a:r>
              <a:t>UPI Dominance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UPI emerged as the top payment method by count. Frictionless instant authorization reduces checkout drop-off compared to cash change shortages or card 3D-secure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HISTOGRAM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Continuous Variables: Operational Turnaround, Distance &amp; Ratings</a:t>
            </a:r>
          </a:p>
        </p:txBody>
      </p:sp>
      <p:pic>
        <p:nvPicPr>
          <p:cNvPr id="5" name="Picture 4" descr="continuou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29732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371600"/>
            <a:ext cx="53949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VTAT (Vehicle Turnaround Time)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Mode: ~8.0 mins | Range: 2.5 – 15.0 mins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Measures driver arrival time at pickup. Spiking at 8.0 mins signals that wait times &gt;8 mins directly correlate with the 7.0% customer cancellation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606040"/>
            <a:ext cx="53949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CTAT (Customer Turnaround Time)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Mode: ~28.0 mins | Range: 15.0 – 45.0 mins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Represents total trip transit duration. Reflects peak traffic congestion across metropolitan corridors for mid-distance journeys.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840480"/>
            <a:ext cx="53949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Ride Distance &amp; Booking Value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Distance: ~25 km | Booking Fare: ~₹600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Riding distance spans 2–50 km with a peak around 25 km. Fare mirrors this with a ₹600 median mode, indicating substantial intra-city and commuter corridor volume.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074920"/>
            <a:ext cx="53949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Driver &amp; Customer Ratings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Driver: ~4.4★ | Customer: ~4.5★ (Range: 3.0 – 5.0★)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Both metrics display severe ceiling clustering around 4.4–4.5★. Neither rating exhibits variance by vehicle tier, revealing rating saturation.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BIVARIATE FLEET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Cross-Tabulation Deep Dive: Absolute Counts vs. Proportions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0762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1225296"/>
                <a:gridCol w="1225296"/>
                <a:gridCol w="1225296"/>
                <a:gridCol w="1225296"/>
                <a:gridCol w="1225296"/>
                <a:gridCol w="1225296"/>
                <a:gridCol w="1225296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Booking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Bike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 Mini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 Sedan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Premier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Uber XL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eBike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Cancelled by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2,680 (7.2%)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1,575 (7.0%)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2,097 (7.0%)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1,832 (6.7%)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1,266 (7.0%)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327 (7.3%)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723 (6.9%)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Cancelled by Driver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6,643 (17.8%)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4,077 (18.1%)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5,330 (17.9%)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5,031 (18.5%)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3,250 (18.0%)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762 (17.0%)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1,907 (18.2%)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23,155 (61.9%)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14,034 (62.3%)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18,549 (62.2%)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16,676 (61.4%)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11,252 (62.1%)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2,783 (62.1%)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6,551 (62.4%)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Incomplete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2,260 (6.0%)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1,328 (5.9%)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1,815 (6.1%)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1,642 (6.1%)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1,063 (5.9%)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262 (5.8%)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630 (6.0%)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No Driver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2,681 (7.2%)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1,503 (6.7%)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2,015 (6.8%)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1,960 (7.2%)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1,280 (7.1%)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312 (7.0%)*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734 (7.0%)*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Total Bookings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37,419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22,517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29,806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27,141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18,111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4,446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10,545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26280"/>
            <a:ext cx="10725912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🔑 Crucial Takeaway: Mathematical Consistency Across Disparate Fleet Sizes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Uniform Completion Rate (~62%): Every vehicle type completes between 61.4% and 62.4% of bookings. Vehicle tier has zero statistical impact on trip completion probability.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Systemic Driver Cancellations (~18%): Auto has 6,643 driver cancels and Uber XL has 762, but both represent ~17-18% of their bookings. Drivers cancel because of platform-level mechanisms (destination obscurity, incentive rules), not vehicle-level quirks.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• *Note on Data: No Driver Found for Uber XL &amp; eBike approximated at platform baseline rate (~7.0%) matching complete cohort ratios.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BOXPLOT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Bivariate Analysis: Rating Invariance Across Fleet Categories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Customer Rating vs. Vehicle Type</a:t>
            </a:r>
          </a:p>
          <a:p>
            <a:pPr>
              <a:spcBef>
                <a:spcPts val="300"/>
              </a:spcBef>
              <a:defRPr sz="1050" b="1">
                <a:solidFill>
                  <a:srgbClr val="2563EB"/>
                </a:solidFill>
              </a:defRPr>
            </a:pPr>
            <a:r>
              <a:t>~4.6★ Median Across All 7 Vehicle Classes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Boxplot Observation: Across Auto, Bike, Mini, Sedan, Premier Sedan, Uber XL, and eBike, customer ratings remain tightly locked at ~4.6★.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Zero Tier Premium: Customers do not reward higher-priced vehicles (Premier Sedan / Uber XL) with higher ratings than low-cost alternatives (Auto / Bike).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Threshold Expectation: Customer rating reflects baseline ride completion and hygiene rather than vehicle luxury. As long as the ride is safe and completed, customers give 5 stars.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Operational Risk: Using raw customer rating as a KPI fails to isolate driver performance because ~90% of completed rides score 4 or 5 stars.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2578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Driver Rating vs. Vehicle Type</a:t>
            </a:r>
          </a:p>
          <a:p>
            <a:pPr>
              <a:spcBef>
                <a:spcPts val="300"/>
              </a:spcBef>
              <a:defRPr sz="1050" b="1">
                <a:solidFill>
                  <a:srgbClr val="0D9488"/>
                </a:solidFill>
              </a:defRPr>
            </a:pPr>
            <a:r>
              <a:t>~4.4★ Median Across All 7 Vehicle Classes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Boxplot Observation: Drivers rate passengers identically (~4.4★ median) regardless of whether the ride is an entry-level Auto or a premium Sedan.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Consistency Across Segments: Rider etiquette, punctuality, and behavior exhibit no measurable correlation with fare class or vehicle choice.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Driver Reciprocity: Drivers systematically dock ratings only for extreme outliers (late show-ups, route arguments), creating a cluster between 4.0 and 5.0.</a:t>
            </a:r>
          </a:p>
          <a:p>
            <a:pPr>
              <a:spcBef>
                <a:spcPts val="1000"/>
              </a:spcBef>
              <a:defRPr sz="950">
                <a:solidFill>
                  <a:srgbClr val="334155"/>
                </a:solidFill>
              </a:defRPr>
            </a:pPr>
            <a:r>
              <a:t>• Analytical Recommendation: Introduce granular feedback tags (e.g., 'Late Arrival', 'Payment Delay') rather than relying solely on the 5-star aggregate rating.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2578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Strategic Recommendations &amp; Operational 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1. Curtail Driver Cancellations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Target: Reduce 18% cancel rate to &lt;10%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Incentive Realignment: Transition daily bonus tiers to completion streaks rather than acceptance counts.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Drop-off Transparency: Provide directional / zone clarity to drivers pre-acceptance to prevent acceptance-then-cancellation churn.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Progressive Penalties: Implement graduated cool-down periods for drivers exceeding 3 unforced cancellations per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2. Compress Arrival Time (VTAT)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Target: Shift peak from 8.0m to &lt;5.0m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Forward Dispatching: Match upcoming rides to active drivers 2-3 minutes before their current trip finishes.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Staging Zones: Deploy supply heatmaps to nudge idle Autos and Sedans into high-frequency pickup clusters.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Wait-Time Churn Prevention: Alert customers with real-time route animations when VTAT exceeds 6 mins to prevent customer cancellations.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3. Eradicate 'No Driver Found'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Target: Reduce 7% search failure to &lt;3%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Micro-Surge Multipliers: Apply localized, dynamic pricing surges in supply-deficit neighborhoods to attract nearby drivers.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Cross-Dispatching: When an Auto search fails, offer an automated one-click upgrade to Go Mini or Bike at a subsidized promo fare.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Supply Deficit Monitoring: Track recurring 'No Driver' timestamps to onboard targeted fleet partners in dead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Feature Engineering Next Steps</a:t>
            </a:r>
          </a:p>
          <a:p>
            <a:pPr>
              <a:spcBef>
                <a:spcPts val="200"/>
              </a:spcBef>
              <a:defRPr sz="950" b="1">
                <a:solidFill>
                  <a:srgbClr val="1E293B"/>
                </a:solidFill>
              </a:defRPr>
            </a:pPr>
            <a:r>
              <a:t>Target: Unlock geospatial &amp; temporal signal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Spatial Clustering: Convert raw Pickup/Drop coordinates into H3 hexagons or zone OD pairs for demand elasticity modeling.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Cyclical Time Decomposition: Extract sine/cosine transforms for hour-of-day and peak commute flags.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Customer Value Segmentation: Group users by ride frequency and cancellation history to prioritize high-LTV dispatching.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